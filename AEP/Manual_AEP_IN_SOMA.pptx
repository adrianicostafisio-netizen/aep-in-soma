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601200" y="0"/>
            <a:ext cx="2587752" cy="6858000"/>
          </a:xfrm>
          <a:prstGeom prst="rect">
            <a:avLst/>
          </a:prstGeom>
          <a:solidFill>
            <a:srgbClr val="3D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332720" y="0"/>
            <a:ext cx="1828800" cy="6858000"/>
          </a:xfrm>
          <a:prstGeom prst="rect">
            <a:avLst/>
          </a:prstGeom>
          <a:solidFill>
            <a:srgbClr val="2E3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1463040" cy="146304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AEP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2344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AEP — IN SOMA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9659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D4E5B8"/>
                </a:solidFill>
              </a:rPr>
              <a:t>Avaliação Ergonômica do Trabalho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606040"/>
            <a:ext cx="5486400" cy="457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743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D4E5B8"/>
                </a:solidFill>
              </a:rPr>
              <a:t>Manual de Utilização — NR-17 · Pesquisa de Campo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2120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ADRIANI COSTA ERGONOMIA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5B8"/>
                </a:solidFill>
              </a:rPr>
              <a:t>Ferramenta profissional para pesquisa de campo ergonômico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4E5B8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📋  O que é o AEP — IN SOMA?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Ferramenta digital para Avaliação Ergonômica do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1E"/>
                </a:solidFill>
              </a:rPr>
              <a:t>O AEP — IN SOMA é um aplicativo web que digitaliza e estrutura toda a Avaliação Ergonômica do Trabalho (AET) conforme NR-17,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1E"/>
                </a:solidFill>
              </a:rPr>
              <a:t>desde a coleta de dados em campo até a exportação do relatório técnico completo.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1752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D3A1E"/>
                </a:solidFill>
              </a:rPr>
              <a:t>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4903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02E"/>
                </a:solidFill>
              </a:rPr>
              <a:t>Acesso Seguro
com PIN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434840"/>
            <a:ext cx="1737360" cy="36576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44"/>
                </a:solidFill>
              </a:rPr>
              <a:t>Dados criptografados localmente no dispositivo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01752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D3A1E"/>
                </a:solidFill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74903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02E"/>
                </a:solidFill>
              </a:rPr>
              <a:t>Funciona Offline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03320" y="4434840"/>
            <a:ext cx="1737360" cy="36576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37560" y="4572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44"/>
                </a:solidFill>
              </a:rPr>
              <a:t>Sem necessidade de internet em campo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1752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D3A1E"/>
                </a:solidFill>
              </a:rPr>
              <a:t>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74903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02E"/>
                </a:solidFill>
              </a:rPr>
              <a:t>15 Seções
Estruturadas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4434840"/>
            <a:ext cx="1737360" cy="36576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572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44"/>
                </a:solidFill>
              </a:rPr>
              <a:t>Cobertura completa de todos os fatores ergonômicos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3017520"/>
            <a:ext cx="26517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1546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2D3A1E"/>
                </a:solidFill>
              </a:rPr>
              <a:t>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749039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4A602E"/>
                </a:solidFill>
              </a:rPr>
              <a:t>Exportação
Html · PDF · XLSX · CSV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64040" y="4434840"/>
            <a:ext cx="1737360" cy="36576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4572000"/>
            <a:ext cx="24688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6544"/>
                </a:solidFill>
              </a:rPr>
              <a:t>Relatório profissional pronto para entrega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🔑  Como Acessar o Aplicativo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Primeiro acesso e desbloqueio com PIN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502920" cy="5029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6916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602E"/>
                </a:solidFill>
              </a:rPr>
              <a:t>Abra o arquivo index.html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3911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44"/>
                </a:solidFill>
              </a:rPr>
              <a:t>Navegue até a pasta AEP no seu dispositivo e abra o arquivo index.html em qualquer navegador moderno (Chrome, Edge, Firefox).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880360"/>
            <a:ext cx="502920" cy="5029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880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88036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602E"/>
                </a:solidFill>
              </a:rPr>
              <a:t>Crie seu PIN de segurança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2783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44"/>
                </a:solidFill>
              </a:rPr>
              <a:t>No primeiro acesso, o aplicativo solicitará a criação de um PIN de 4 a 6 dígitos. Este PIN protege os dados avaliações armazenadas localmente.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69080"/>
            <a:ext cx="502920" cy="5029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4069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0690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602E"/>
                </a:solidFill>
              </a:rPr>
              <a:t>Desbloqueie o aplicativo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41655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44"/>
                </a:solidFill>
              </a:rPr>
              <a:t>Nas sessões seguintes, insira o PIN criado e clique em Desbloquear para acessar o painel de avaliações.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5257800"/>
            <a:ext cx="502920" cy="5029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52578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25780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A602E"/>
                </a:solidFill>
              </a:rPr>
              <a:t>Painel principal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605272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6544"/>
                </a:solidFill>
              </a:rPr>
              <a:t>Após o desbloqueio, você verá o Painel com as avaliações salvas, a barra de busca e as ações disponíveis.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400800"/>
            <a:ext cx="11430000" cy="347472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11247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02E"/>
                </a:solidFill>
              </a:rPr>
              <a:t>💡  Dica: O aplicativo funciona 100% offline — todos os dados são salvos no navegador do dispositivo.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🏠  Painel Principal —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Gerencie e inicie avaliações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731520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965960"/>
            <a:ext cx="7040880" cy="64008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7040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  AEP — IN SOMA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7040880" cy="45720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7889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🔍  Buscar por empresa, trabalhador ou nº AEP...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337560"/>
            <a:ext cx="3383280" cy="146304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429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D3A1E"/>
                </a:solidFill>
              </a:rPr>
              <a:t>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602E"/>
                </a:solidFill>
              </a:rPr>
              <a:t>Nova Avaliação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2519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44"/>
                </a:solidFill>
              </a:rPr>
              <a:t>Iniciar nova AET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3337560"/>
            <a:ext cx="3291840" cy="146304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34290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2D3A1E"/>
                </a:solidFill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5E8A"/>
                </a:solidFill>
              </a:rPr>
              <a:t>Exportar Dados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2519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6544"/>
                </a:solidFill>
              </a:rPr>
              <a:t>XLSX · CSV · PDF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937760"/>
            <a:ext cx="7040880" cy="45720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501091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1E"/>
                </a:solidFill>
              </a:rPr>
              <a:t>🏢  Empresa: Orbenk — Tarefa: Montagem — 14/07/2026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440680"/>
            <a:ext cx="7040880" cy="45720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55138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1E"/>
                </a:solidFill>
              </a:rPr>
              <a:t>🏢  Empresa: ABC Ltda — Tarefa: Embalagem — 12/07/2026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602E"/>
                </a:solidFill>
              </a:rPr>
              <a:t>Elementos do Painel: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246888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📋  Botão Nova Avaliação → abre o formulário para iniciar uma nova AET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127248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📊  Exportar Dados → exporta dados de todas as avaliações salvas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785616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🔍  Campo de busca → filtra avaliações por empresa ou trabalhador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443984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📄  Lista de avaliações salvas → clique para continuar ou exportar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5102352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ℹ️  Ícone no cabeçalho → exibe a metodologia e referências técnicas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5760720"/>
            <a:ext cx="4023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🌙  Botão de tema → alterna entre modo claro e modo escuro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📑  Estrutura da Avaliação — 15 Seções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O formulário percorre todas as dimensões ergonômicas de uma AET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6537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Identificação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311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Empresa, setor, avaliador,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82880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82880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59" y="182880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59" y="186537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Trabalhador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59" y="22311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Dados pessoais, função, jornada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79" y="182880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82880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79" y="182880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86537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Atividade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23113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Descrição, dificuldades, variabilidades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78892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278892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278892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8254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Org. Trabalho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1912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Ritmo, pausas, horas extras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59" y="278892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59" y="278892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51959" y="278892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09159" y="28254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Exig. Físicas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59" y="31912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Postura, repetitividade, esforço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79" y="278892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183879" y="278892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83879" y="278892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282549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Manip. Cargas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19125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Levantamento, transporte, pega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3749039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3749039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3749039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378561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Ferramentas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41513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Vibração, pega, uso de pedais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51959" y="3749039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251959" y="3749039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59" y="3749039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09159" y="378561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Mobiliário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709159" y="41513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Mesa, cadeira, ajustes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83879" y="3749039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83879" y="3749039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183879" y="3749039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41080" y="3785615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Ambiente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641080" y="415137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Iluminação, ruído, temperatura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20040" y="470916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20040" y="470916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0040" y="470916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7240" y="47457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Psicossocial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1114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6 dimensões: carga, controle...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59" y="470916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251959" y="470916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251959" y="470916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47457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Matriz de Risco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59" y="51114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Orbenk: Prob. × Severidade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83879" y="470916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83879" y="470916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83879" y="470916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41080" y="474573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Queixas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41080" y="511149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Mapa corporal interativo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0040" y="566928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320040" y="566928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20040" y="566928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57058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Fotos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77240" y="60716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Registro fotográfico do posto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251959" y="566928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251959" y="566928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51959" y="566928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09159" y="57058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Conclusão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09159" y="60716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Parecer técnico preliminar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183879" y="5669280"/>
            <a:ext cx="36576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183879" y="5669280"/>
            <a:ext cx="384048" cy="82296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83879" y="5669280"/>
            <a:ext cx="384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41080" y="57058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Recomendações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641080" y="6071616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Plano de ação ergonômica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20040" y="6446520"/>
            <a:ext cx="11521440" cy="32004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57200" y="6537959"/>
            <a:ext cx="11338560" cy="137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02E"/>
                </a:solidFill>
              </a:rPr>
              <a:t>🧭  Navegação: use os botões ← Anterior / Próximo → na parte inferior de cada seção, ou clique diretamente no número da seção na barra de progresso no topo.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👤  Seções 1 e 2 — Identificação e Trabalhador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Preencha os dados de contexto da avaliação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82880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828800"/>
            <a:ext cx="5394960" cy="384048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56231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— Identificação da Empresa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41401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602E"/>
                </a:solidFill>
              </a:rPr>
              <a:t>Empresa *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334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Nome da organização avaliada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99232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0358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602E"/>
                </a:solidFill>
              </a:rPr>
              <a:t>Setor 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2552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Setor produtivo avaliado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621024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57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602E"/>
                </a:solidFill>
              </a:rPr>
              <a:t>Área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8770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Área específica da empresa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242816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2793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602E"/>
                </a:solidFill>
              </a:rPr>
              <a:t>Nº AEP 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4988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Número de controle interno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64608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90118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602E"/>
                </a:solidFill>
              </a:rPr>
              <a:t>Data *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Data da avaliação de campo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86400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229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A602E"/>
                </a:solidFill>
              </a:rPr>
              <a:t>Avaliador *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7424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Nome do ergonomista responsável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1828800"/>
            <a:ext cx="53949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828800"/>
            <a:ext cx="5394960" cy="384048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1856231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— Dados do Trabalhador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377440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241401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6B"/>
                </a:solidFill>
              </a:rPr>
              <a:t>Nome completo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3347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Identificação do colaborador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2999232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30358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6B"/>
                </a:solidFill>
              </a:rPr>
              <a:t>Função *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325526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Cargo exercido na empresa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621024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657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6B"/>
                </a:solidFill>
              </a:rPr>
              <a:t>Turno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387705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Manhã / Tarde / Noite / Revez.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242816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427939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6B"/>
                </a:solidFill>
              </a:rPr>
              <a:t>Jornada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4988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Horário e carga horária semanal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864608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901184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6B"/>
                </a:solidFill>
              </a:rPr>
              <a:t>Tempo na função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0" y="51206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Período em meses ou anos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5486400"/>
            <a:ext cx="5212080" cy="50292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83680" y="5522976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D6B"/>
                </a:solidFill>
              </a:rPr>
              <a:t>Tempo na empresa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74243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544"/>
                </a:solidFill>
              </a:rPr>
              <a:t>Vínculo com a organização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94960" y="384048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0392B"/>
                </a:solidFill>
              </a:rPr>
              <a:t>★ obrig.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📝  Seção 3 — Caracterização da Atividade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Descreva a tarefa real observada em campo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D3A1E"/>
                </a:solidFill>
              </a:rPr>
              <a:t>Esta seção é uma das mais importantes da AET. Descreva a tarefa real (não a prescrita) com precisão técnica: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40280"/>
            <a:ext cx="54864" cy="64008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Nome da Tarefa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60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Ex: Montagem de Painéis, Embalagem de Frascos, Operação de Empilhadeira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108960"/>
            <a:ext cx="54864" cy="64008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310896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Descrição da Tarefa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2900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Descreva postura, equipamentos usados, ciclo produtivo, exigências biomecânicas e dados de produção. O botão 💡 Ver critérios exibe um modelo detalhado.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77639"/>
            <a:ext cx="54864" cy="64008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977639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Principais Dificuldades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29767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Relate dificuldades observadas ou relatadas pelo trabalhador. Clique em ✅ Sem dificuldades significativas para preencher rapidamente quando não houver relato.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46320"/>
            <a:ext cx="54864" cy="64008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8463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Estratégias do Trabalhador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66359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Como o trabalhador adapta sua forma de trabalho às dificuldades. Use o botão ✅ Sem dificuldades (Recursos adequados) quando aplicável.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715000"/>
            <a:ext cx="54864" cy="64008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71500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Variabilidades da Tarefa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Variações de ritmo, sazonalidade ou imprevistos. Use o botão ✅ Sem variabilidades significativas para registrar tarefas padronizadas.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✅  Seções 4 a 8 — Checklists Ergonômicos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Avalie cada item como Adequado, Inadequado ou N/A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1E"/>
                </a:solidFill>
              </a:rPr>
              <a:t>As seções 4 a 8 possuem checklists de itens ergonômicos. Para cada item, marque o status e registre melhorias quando necessário: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286000"/>
            <a:ext cx="114300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395728"/>
            <a:ext cx="2286000" cy="640080"/>
          </a:xfrm>
          <a:prstGeom prst="rect">
            <a:avLst/>
          </a:prstGeom>
          <a:solidFill>
            <a:srgbClr val="DCF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76A27"/>
                </a:solidFill>
              </a:rPr>
              <a:t>✓  ADEQUADO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395728"/>
            <a:ext cx="2286000" cy="64008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39572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0392B"/>
                </a:solidFill>
              </a:rPr>
              <a:t>✗  INADEQUADO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2395728"/>
            <a:ext cx="2286000" cy="640080"/>
          </a:xfrm>
          <a:prstGeom prst="rect">
            <a:avLst/>
          </a:prstGeom>
          <a:solidFill>
            <a:srgbClr val="E8EE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395728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556544"/>
                </a:solidFill>
              </a:rPr>
              <a:t>—  NÃO AVALIADO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2450592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602E"/>
                </a:solidFill>
              </a:rPr>
              <a:t>💬 Campo 'Melhoria' aparece ao marcar INADEQUADO → registre a recomendação imediatamente!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566160"/>
            <a:ext cx="384048" cy="5029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566160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58444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02E"/>
                </a:solidFill>
              </a:rPr>
              <a:t>Organização do Trabalho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584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1E"/>
                </a:solidFill>
              </a:rPr>
              <a:t>Ritmo, pausas, horas extras, folgas, planejamento, comunicação, rotatividade, metas…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187952"/>
            <a:ext cx="384048" cy="5029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187952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206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02E"/>
                </a:solidFill>
              </a:rPr>
              <a:t>Exigências Físicas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4206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1E"/>
                </a:solidFill>
              </a:rPr>
              <a:t>Postura de pé, postura sentada, postura estática, movimentos repetitivos, esforço físico, flexão de coluna, elevação de MMSS…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809744"/>
            <a:ext cx="384048" cy="5029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809744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2803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02E"/>
                </a:solidFill>
              </a:rPr>
              <a:t>Manipulação de Cargas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828031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1E"/>
                </a:solidFill>
              </a:rPr>
              <a:t>Levantamento manual, transporte, puxar/empurrar, pega pobre, frequência e distância de transporte…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431536"/>
            <a:ext cx="384048" cy="5029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431536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49823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02E"/>
                </a:solidFill>
              </a:rPr>
              <a:t>Ferramentas e Equipamentos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449823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1E"/>
                </a:solidFill>
              </a:rPr>
              <a:t>Vibração de ferramentas, pega, uso de pedais e alavancas, peso de ferramentas, adequação ao usuário…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053328"/>
            <a:ext cx="384048" cy="5029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053328"/>
            <a:ext cx="38404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6071616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602E"/>
                </a:solidFill>
              </a:rPr>
              <a:t>Mobiliário e Posto de Trabalho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6071616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1E"/>
                </a:solidFill>
              </a:rPr>
              <a:t>Altura da mesa, assento da cadeira, encosto, espaço de trabalho, ajuste da superfície e iluminação localizada…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🌡️  Seção 9 — Condições Ambientais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Avalie o ambiente de trabalho com escala de qualidade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1E"/>
                </a:solidFill>
              </a:rPr>
              <a:t>Cada item ambiental é avaliado em uma escala de 4 pontos (1 a 4) com código de cores e possibilidade de registrar melhoria: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377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14016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Inadequado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432304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Condição fora dos parâmetros normativos — gera risco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035808"/>
            <a:ext cx="502920" cy="502920"/>
          </a:xfrm>
          <a:prstGeom prst="rect">
            <a:avLst/>
          </a:prstGeom>
          <a:solidFill>
            <a:srgbClr val="F0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72384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7A22"/>
                </a:solidFill>
              </a:rPr>
              <a:t>Regular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9067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Condição abaixo do ideal — atenção e monitoramento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94176"/>
            <a:ext cx="502920" cy="502920"/>
          </a:xfrm>
          <a:prstGeom prst="rect">
            <a:avLst/>
          </a:prstGeom>
          <a:solidFill>
            <a:srgbClr val="F0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9417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73075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D000"/>
                </a:solidFill>
              </a:rPr>
              <a:t>Bom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749039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Condição aceitável com espaço para melhoria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352544"/>
            <a:ext cx="502920" cy="502920"/>
          </a:xfrm>
          <a:prstGeom prst="rect">
            <a:avLst/>
          </a:prstGeom>
          <a:solidFill>
            <a:srgbClr val="276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4352544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43891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76A27"/>
                </a:solidFill>
              </a:rPr>
              <a:t>Excelente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07407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Condição plenamente adequada às normas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1206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Itens avaliados nesta seção: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5321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1E"/>
                </a:solidFill>
              </a:rPr>
              <a:t>Iluminação geral · Iluminação localizada · Temperatura · Umidade · Ventilação · Ruído · Vibração · Limpeza · Organização · Espaço físico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6144768"/>
            <a:ext cx="11430000" cy="56692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236207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02E"/>
                </a:solidFill>
              </a:rPr>
              <a:t>⚠️  Itens com nota 1 (Inadequado) são automaticamente adicionados à Matriz de Risco (Seção 11) para quantificação e planejamento de ações.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🧠  Seção 10 — Fatores Psicossociais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Avalie 6 dimensões de riscos psicossociais no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1E"/>
                </a:solidFill>
              </a:rPr>
              <a:t>Baseada em evidências científicas e na NR-17, esta seção avalia 6 dimensões dos riscos psicossociais do trabalho. Para cada dimensão é apresentada uma pergunta norteadora, opções de fatores de risco clicáveis e um campo livre de observações: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31720"/>
            <a:ext cx="5623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331720"/>
            <a:ext cx="384048" cy="11430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331720"/>
            <a:ext cx="38404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774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6B"/>
                </a:solidFill>
              </a:rPr>
              <a:t>Demanda e Carga de Trabalho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889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Sobrecarga, exigência cognitiva, trabalho intenso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331720"/>
            <a:ext cx="5623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331720"/>
            <a:ext cx="384048" cy="11430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38404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3408" y="23774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6B"/>
                </a:solidFill>
              </a:rPr>
              <a:t>Controle e Autonomia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8" y="27889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Falta de controle, baixa autonomia, trabalho rígido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630168"/>
            <a:ext cx="5623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630168"/>
            <a:ext cx="384048" cy="11430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630168"/>
            <a:ext cx="38404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367588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6B"/>
                </a:solidFill>
              </a:rPr>
              <a:t>Clareza de Papéis e Gestão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0873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Ambiguidade de papel, conflito, falhas de gestão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17920" y="3630168"/>
            <a:ext cx="5623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7920" y="3630168"/>
            <a:ext cx="384048" cy="11430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630168"/>
            <a:ext cx="38404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3408" y="3675887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6B"/>
                </a:solidFill>
              </a:rPr>
              <a:t>Apoio da Liderança e Equipe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8" y="4087368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Falta de suporte social, isolamento, liderança inadequada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928616"/>
            <a:ext cx="5623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928616"/>
            <a:ext cx="384048" cy="11430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928616"/>
            <a:ext cx="38404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" y="49743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6B"/>
                </a:solidFill>
              </a:rPr>
              <a:t>Respeito nas Relações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8" y="53858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Assédio moral, violência psicológica, conflitos interpessoais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928616"/>
            <a:ext cx="5623560" cy="114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17920" y="4928616"/>
            <a:ext cx="384048" cy="1143000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928616"/>
            <a:ext cx="38404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93408" y="4974336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7D6B"/>
                </a:solidFill>
              </a:rPr>
              <a:t>Reconhecimento e Segurança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93408" y="5385816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Baixo reconhecimento, insegurança ocupacional, insatisfação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6400800"/>
            <a:ext cx="11521440" cy="384048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6492240"/>
            <a:ext cx="1133856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02E"/>
                </a:solidFill>
              </a:rPr>
              <a:t>📋  Os fatores de risco psicossocial selecionados são adicionados à Matriz de Risco com os respectivos códigos da Tabela 23 do e-Social (Seção 11).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📊  Seção 11 — Matriz de Risco (Metodologia Orbenk)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Classifique e priorize cada risco identificado nas seções anteriores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1907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D3A1E"/>
                </a:solidFill>
              </a:rPr>
              <a:t>A Matriz de Risco usa a metodologia Orbenk: o cruzamento de Fator de Proteção e Perfil de Exposição gera a Probabilidade, que combinada com a Severidade determina a Classificação de Risco.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3172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331720"/>
            <a:ext cx="3749039" cy="475488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35915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🛡️ Fator de Proteção
(Medidas de Controle)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880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1 — Adequadas e eficientes
2 — Insuficientes
3 — Inexistentes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233172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2331720"/>
            <a:ext cx="3749039" cy="475488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235915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⏱️ Perfil de Exposição
Qualitativo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880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1 — Baixa  (esporádico)
2 — Média  (frequente)
3 — Alta  (frequente/alta conc.)
4 — Extrema  (diário/alta conc.)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331720"/>
            <a:ext cx="3749039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2331720"/>
            <a:ext cx="3749039" cy="475488"/>
          </a:xfrm>
          <a:prstGeom prst="rect">
            <a:avLst/>
          </a:prstGeom>
          <a:solidFill>
            <a:srgbClr val="F0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359152"/>
            <a:ext cx="35661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⚠️ Severidade
(Lesão / Doença)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880360"/>
            <a:ext cx="3566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1 — Leve  (reversível, ≤15 dias)
2 — Séria  (reversível, &gt;15 dias)
3 — Crítica  (irreversível)
4 — Incapacitante / Fatal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754880"/>
            <a:ext cx="11521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→ Classificação de Risco resultante: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166360"/>
            <a:ext cx="2788920" cy="548640"/>
          </a:xfrm>
          <a:prstGeom prst="rect">
            <a:avLst/>
          </a:prstGeom>
          <a:solidFill>
            <a:srgbClr val="52C4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" y="51937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 — BAIXO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57607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1E"/>
                </a:solidFill>
              </a:rPr>
              <a:t>Monitorar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5166360"/>
            <a:ext cx="2788920" cy="548640"/>
          </a:xfrm>
          <a:prstGeom prst="rect">
            <a:avLst/>
          </a:prstGeom>
          <a:solidFill>
            <a:srgbClr val="FAAD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19272" y="51937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 — MÉDIO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57607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1E"/>
                </a:solidFill>
              </a:rPr>
              <a:t>Gerenciar ativamente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5166360"/>
            <a:ext cx="2788920" cy="54864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5352" y="51937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 — ALTO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7607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1E"/>
                </a:solidFill>
              </a:rPr>
              <a:t>Gerenciar proativamente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98280" y="5166360"/>
            <a:ext cx="2788920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71432" y="5193792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 — EXTREMO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5760720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D3A1E"/>
                </a:solidFill>
              </a:rPr>
              <a:t>Evitar / Eliminar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6172200"/>
            <a:ext cx="11521440" cy="5029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263640"/>
            <a:ext cx="11338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02E"/>
                </a:solidFill>
              </a:rPr>
              <a:t>🔄  Clique em 'Atualizar Matriz' para gerar a lista de riscos automaticamente. O código da Tabela 23 do e-Social é exibido sob cada fator de risco.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🩺  Seção 12 — Queixas Osteomusculares do Trabalhador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Mapa corporal interativo para registro de dores e desconfortos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438912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4A602E"/>
                </a:solidFill>
              </a:rPr>
              <a:t>Mapa Corporal Interativo</a:t>
            </a:r>
          </a:p>
        </p:txBody>
      </p:sp>
      <p:sp>
        <p:nvSpPr>
          <p:cNvPr id="9" name="Rectangle 8"/>
          <p:cNvSpPr/>
          <p:nvPr/>
        </p:nvSpPr>
        <p:spPr>
          <a:xfrm>
            <a:off x="1938528" y="2240280"/>
            <a:ext cx="548640" cy="2743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38528" y="22402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602E"/>
                </a:solidFill>
              </a:rPr>
              <a:t>Cabeça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2880360"/>
            <a:ext cx="548640" cy="2743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45920" y="2880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602E"/>
                </a:solidFill>
              </a:rPr>
              <a:t>Ombro 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2880360"/>
            <a:ext cx="548640" cy="2743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40280" y="288036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602E"/>
                </a:solidFill>
              </a:rPr>
              <a:t>Ombro 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3611879"/>
            <a:ext cx="548640" cy="2743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38528" y="36118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602E"/>
                </a:solidFill>
              </a:rPr>
              <a:t>Coluna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234439" y="3154680"/>
            <a:ext cx="548640" cy="2743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39" y="3154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602E"/>
                </a:solidFill>
              </a:rPr>
              <a:t>Braço 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154680"/>
            <a:ext cx="548640" cy="2743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0" y="31546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602E"/>
                </a:solidFill>
              </a:rPr>
              <a:t>Braço 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38528" y="4526279"/>
            <a:ext cx="548640" cy="2743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38528" y="452627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602E"/>
                </a:solidFill>
              </a:rPr>
              <a:t>Quadril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80160" y="5166359"/>
            <a:ext cx="548640" cy="2743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80160" y="516635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602E"/>
                </a:solidFill>
              </a:rPr>
              <a:t>Joelho 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60320" y="5166359"/>
            <a:ext cx="548640" cy="2743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60320" y="5166359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4A602E"/>
                </a:solidFill>
              </a:rPr>
              <a:t>Joelho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182880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A602E"/>
                </a:solidFill>
              </a:rPr>
              <a:t>Como registrar queixas: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0" y="2331720"/>
            <a:ext cx="384048" cy="475488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0" y="2331720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32120" y="2368296"/>
            <a:ext cx="6080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Clique sobre a região do corpo com queixa de dor ou desconforto.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0" y="3017520"/>
            <a:ext cx="384048" cy="475488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0" y="3017520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32120" y="3054096"/>
            <a:ext cx="6080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Uma janela aparece para definir a Intensidade (1 a 5), o Tipo da queixa e uma Anotação livre.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0" y="3703320"/>
            <a:ext cx="384048" cy="475488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0" y="3703320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532120" y="3739896"/>
            <a:ext cx="6080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Clique em Adicionar — a região ficará colorida conforme a intensidade.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0" y="4389120"/>
            <a:ext cx="384048" cy="475488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0" y="4389120"/>
            <a:ext cx="38404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4425696"/>
            <a:ext cx="6080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D3A1E"/>
                </a:solidFill>
              </a:rPr>
              <a:t>Para editar ou excluir, clique novamente na região colorida.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166360"/>
            <a:ext cx="6675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Legenda de Intensidade: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0" y="5623560"/>
            <a:ext cx="1234440" cy="475488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0" y="566928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1E"/>
                </a:solidFill>
              </a:rPr>
              <a:t>1 — Leve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5623560"/>
            <a:ext cx="1234440" cy="475488"/>
          </a:xfrm>
          <a:prstGeom prst="rect">
            <a:avLst/>
          </a:prstGeom>
          <a:solidFill>
            <a:srgbClr val="FFE0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55080" y="566928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1E"/>
                </a:solidFill>
              </a:rPr>
              <a:t>2 — Moderada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680960" y="5623560"/>
            <a:ext cx="1234440" cy="475488"/>
          </a:xfrm>
          <a:prstGeom prst="rect">
            <a:avLst/>
          </a:prstGeom>
          <a:solidFill>
            <a:srgbClr val="FFCC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80960" y="566928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1E"/>
                </a:solidFill>
              </a:rPr>
              <a:t>3 — Intensa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06840" y="5623560"/>
            <a:ext cx="1234440" cy="475488"/>
          </a:xfrm>
          <a:prstGeom prst="rect">
            <a:avLst/>
          </a:prstGeom>
          <a:solidFill>
            <a:srgbClr val="F8BB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006840" y="566928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1E"/>
                </a:solidFill>
              </a:rPr>
              <a:t>4 — Muito intensa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32720" y="5623560"/>
            <a:ext cx="1234440" cy="475488"/>
          </a:xfrm>
          <a:prstGeom prst="rect">
            <a:avLst/>
          </a:prstGeom>
          <a:solidFill>
            <a:srgbClr val="EF9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20" y="5669280"/>
            <a:ext cx="1234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D3A1E"/>
                </a:solidFill>
              </a:rPr>
              <a:t>5 — Insuportável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6544"/>
                </a:solidFill>
              </a:rPr>
              <a:t>Obs.: As queixas registradas aparecem no relatório final com região, intensidade, tipo e anotações.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📸  Seções 13, 14 e 15 — Fotos, Conclusão e Recomendações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Finalize a avaliação com registros visuais e parecer técnico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37947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828800"/>
            <a:ext cx="3794760" cy="475488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186537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📸  Seção 13 — Registro Fotográfico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2316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59" y="24231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Toque em 'Adicionar Fotografias' para tirar foto ou selecionar da galeria.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2900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59" y="342900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Cada foto recebe uma legenda descritiva.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3484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59" y="44348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As imagens são armazenadas localmente e inseridas no relatório HTML.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44068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59" y="54406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Dica: Fotografe o posto de trabalho, equipamentos críticos e situações inadequadas.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828800"/>
            <a:ext cx="37947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1828800"/>
            <a:ext cx="3794760" cy="475488"/>
          </a:xfrm>
          <a:prstGeom prst="rect">
            <a:avLst/>
          </a:prstGeom>
          <a:solidFill>
            <a:srgbClr val="2E7D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70831" y="186537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📄  Seção 14 — Conclusão Preliminar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242316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1999" y="24231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Campo de texto livre para o parecer técnico do avaliador.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34840" y="342900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1999" y="342900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Relacione as principais inadequações encontradas às suas consequências ergonômicas.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4840" y="443484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1999" y="44348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Contextualizar o perfil de risco identificado e as condições gerais do posto.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544068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1999" y="54406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O conteúdo aparece em destaque na seção final do relatório PDF.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75319" y="1828800"/>
            <a:ext cx="379476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19" y="1828800"/>
            <a:ext cx="3794760" cy="475488"/>
          </a:xfrm>
          <a:prstGeom prst="rect">
            <a:avLst/>
          </a:prstGeom>
          <a:solidFill>
            <a:srgbClr val="F07A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48471" y="1865376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🎯  Seção 15 — Recomendações e Plano de Ação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412480" y="242316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42316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Insira as recomendações técnicas em formato de lista — uma por linha.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0" y="342900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42900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Inclua ações de curto, médio e longo prazo.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43484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43484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Referencie os itens inadequados identificados nos checklists.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5440680"/>
            <a:ext cx="54864" cy="73152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5440680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Este campo é exportado como lista de bullets no relatório final.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📤  Exportação de Relatórios e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Gere o relatório técnico completo ou exporte dados brutos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0992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3A1E"/>
                </a:solidFill>
              </a:rPr>
              <a:t>Clique no ícone 📤 no cabeçalho ou nos botões da Seção 15 para acessar as opções de exportação: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59152"/>
            <a:ext cx="3794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359152"/>
            <a:ext cx="3794760" cy="530352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3957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📄  HTML / PDF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" y="3136391"/>
            <a:ext cx="201168" cy="201168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99923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Relatório técnico completo formatado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" y="3959352"/>
            <a:ext cx="201168" cy="201168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822191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Inclui: identificação, checklists, queixas, fotos, matriz de risco, recomendações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4782312"/>
            <a:ext cx="201168" cy="201168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464515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Para imprimir: use Ctrl+P no navegador (salve como PDF)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" y="5605272"/>
            <a:ext cx="201168" cy="201168"/>
          </a:xfrm>
          <a:prstGeom prst="rect">
            <a:avLst/>
          </a:prstGeom>
          <a:solidFill>
            <a:srgbClr val="1A5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546811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Contém a coluna e-Social (Tabela 23) na Matriz de Risco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97679" y="2359152"/>
            <a:ext cx="3794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79" y="2359152"/>
            <a:ext cx="3794760" cy="530352"/>
          </a:xfrm>
          <a:prstGeom prst="rect">
            <a:avLst/>
          </a:prstGeom>
          <a:solidFill>
            <a:srgbClr val="217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19" y="23957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📊  Excel (XLSX)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07407" y="3136391"/>
            <a:ext cx="201168" cy="201168"/>
          </a:xfrm>
          <a:prstGeom prst="rect">
            <a:avLst/>
          </a:prstGeom>
          <a:solidFill>
            <a:srgbClr val="217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7" y="299923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4 abas: Avaliação · Checklists · Matriz de Risco · Queixas e Conclusão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07407" y="3959352"/>
            <a:ext cx="201168" cy="201168"/>
          </a:xfrm>
          <a:prstGeom prst="rect">
            <a:avLst/>
          </a:prstGeom>
          <a:solidFill>
            <a:srgbClr val="217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81727" y="3822191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Matriz de Risco com código da Tabela 23 do e-Social em coluna dedicada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07407" y="4782312"/>
            <a:ext cx="201168" cy="201168"/>
          </a:xfrm>
          <a:prstGeom prst="rect">
            <a:avLst/>
          </a:prstGeom>
          <a:solidFill>
            <a:srgbClr val="217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7" y="464515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Ideal para análise e cruzamento de dados de múltiplas avaliações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07407" y="5605272"/>
            <a:ext cx="201168" cy="201168"/>
          </a:xfrm>
          <a:prstGeom prst="rect">
            <a:avLst/>
          </a:prstGeom>
          <a:solidFill>
            <a:srgbClr val="217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7" y="546811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Compatível com Excel, LibreOffice, Google Sheets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19" y="2359152"/>
            <a:ext cx="379476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19" y="2359152"/>
            <a:ext cx="3794760" cy="530352"/>
          </a:xfrm>
          <a:prstGeom prst="rect">
            <a:avLst/>
          </a:prstGeom>
          <a:solidFill>
            <a:srgbClr val="556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66759" y="23957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🗂️  CSV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85047" y="3136391"/>
            <a:ext cx="201168" cy="201168"/>
          </a:xfrm>
          <a:prstGeom prst="rect">
            <a:avLst/>
          </a:prstGeom>
          <a:solidFill>
            <a:srgbClr val="556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59367" y="299923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Arquivo texto com a Matriz de Risco apenas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5047" y="3959352"/>
            <a:ext cx="201168" cy="201168"/>
          </a:xfrm>
          <a:prstGeom prst="rect">
            <a:avLst/>
          </a:prstGeom>
          <a:solidFill>
            <a:srgbClr val="556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9367" y="3822191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Separado por ponto e vírgula (;) — padrão BR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85047" y="4782312"/>
            <a:ext cx="201168" cy="201168"/>
          </a:xfrm>
          <a:prstGeom prst="rect">
            <a:avLst/>
          </a:prstGeom>
          <a:solidFill>
            <a:srgbClr val="556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9367" y="464515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Codificado em UTF-8 com BOM (acentos preservados)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85047" y="5605272"/>
            <a:ext cx="201168" cy="201168"/>
          </a:xfrm>
          <a:prstGeom prst="rect">
            <a:avLst/>
          </a:prstGeom>
          <a:solidFill>
            <a:srgbClr val="5565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9367" y="5468112"/>
            <a:ext cx="329184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D3A1E"/>
                </a:solidFill>
              </a:rPr>
              <a:t>Fácil importação em qualquer software de planilha ou SST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6629400"/>
            <a:ext cx="11521440" cy="164592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" y="6720840"/>
            <a:ext cx="11338560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602E"/>
                </a:solidFill>
              </a:rPr>
              <a:t>💡  A exportação completa de todas as avaliações está disponível no Painel (botão 'Exportar Dados').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0"/>
            <a:ext cx="12188952" cy="54864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💡  Boas Práticas e Dicas de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D4E5B8"/>
                </a:solidFill>
              </a:rPr>
              <a:t>Maximize a qualidade e a eficiência das suas avaliações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5760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D3A1E"/>
                </a:solidFill>
              </a:rPr>
              <a:t>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856231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Salve a bateria em campo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240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O salvamento automático ocorre a cada mudança de campo. Não é necessário salvar manualmente.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59" y="1783080"/>
            <a:ext cx="5760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74519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D3A1E"/>
                </a:solidFill>
              </a:rPr>
              <a:t>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1856231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Funciona sem internet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24028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Use offline tranquilamente. Os dados ficam no próprio dispositivo. Sincronize ao chegar ao escritório.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017520"/>
            <a:ext cx="5760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108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D3A1E"/>
                </a:solidFill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0906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Proteja seu PIN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4747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Nunca compartilhe seu PIN. Em caso de esquecimento, limpe os dados do navegador e reconfigure.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59" y="3017520"/>
            <a:ext cx="5760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D3A1E"/>
                </a:solidFill>
              </a:rPr>
              <a:t>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59" y="30906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Fotos de qualidade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59" y="34747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Prefira fotos horizontais com boa iluminação. Inclua o trabalhador executando a tarefa real.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251960"/>
            <a:ext cx="5760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D3A1E"/>
                </a:solidFill>
              </a:rPr>
              <a:t>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3251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Descreva a tarefa real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7091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A descrição da seção 3 é o coração do laudo. Seja específico: posturas, ciclos, pesos, frequências.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59" y="4251960"/>
            <a:ext cx="5760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343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D3A1E"/>
                </a:solidFill>
              </a:rPr>
              <a:t>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59" y="432511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Atualize a Matriz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5159" y="47091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Sempre clique em 'Atualizar Matriz' na Seção 11 após revisar as seções 4-10 para garantir lista completa.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86400"/>
            <a:ext cx="5760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77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D3A1E"/>
                </a:solidFill>
              </a:rPr>
              <a:t>⚖️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5595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Referência normativa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" y="5943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O app segue a NR-17 (2022), NHO-09 (FUNDACENTRO) e metodologias OCRA, RULA e Orbenk para risco.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59" y="5486400"/>
            <a:ext cx="576072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55778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D3A1E"/>
                </a:solidFill>
              </a:rPr>
              <a:t>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59" y="555955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602E"/>
                </a:solidFill>
              </a:rPr>
              <a:t>Backup dos dados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95159" y="59436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56544"/>
                </a:solidFill>
              </a:rPr>
              <a:t>Os dados ficam no IndexedDB do navegador. Para fazer backup, use a exportação XLSX regularmente.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6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26880" y="0"/>
            <a:ext cx="2834640" cy="6858000"/>
          </a:xfrm>
          <a:prstGeom prst="rect">
            <a:avLst/>
          </a:prstGeom>
          <a:solidFill>
            <a:srgbClr val="3D5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0" y="0"/>
            <a:ext cx="1920240" cy="6858000"/>
          </a:xfrm>
          <a:prstGeom prst="rect">
            <a:avLst/>
          </a:prstGeom>
          <a:solidFill>
            <a:srgbClr val="2E3D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1463040" cy="1463040"/>
          </a:xfrm>
          <a:prstGeom prst="rect">
            <a:avLst/>
          </a:prstGeom>
          <a:solidFill>
            <a:srgbClr val="6B7F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463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AEP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371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</a:rPr>
              <a:t>AEP — IN SOMA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21488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4E5B8"/>
                </a:solidFill>
              </a:rPr>
              <a:t>Avaliação Ergonômica do Trabalho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2743200"/>
            <a:ext cx="4572000" cy="45720"/>
          </a:xfrm>
          <a:prstGeom prst="rect">
            <a:avLst/>
          </a:prstGeom>
          <a:solidFill>
            <a:srgbClr val="D4E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92608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FFFF"/>
                </a:solidFill>
              </a:rPr>
              <a:t>Pronto para as suas avaliações de campo!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3520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E5B8"/>
                </a:solidFill>
              </a:rPr>
              <a:t>Em caso de dúvidas, entre em contato com o suporte técnico.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ADRIANI COSTA ERGONOMIA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4E5B8"/>
                </a:solidFill>
              </a:rPr>
              <a:t>Ferramenta NR-17 · Metodologia Orbenk · e-Social Tabela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